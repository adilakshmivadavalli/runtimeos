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77240"/>
            <a:ext cx="502920" cy="502920"/>
          </a:xfrm>
          <a:prstGeom prst="rect">
            <a:avLst/>
          </a:prstGeom>
          <a:solidFill>
            <a:srgbClr val="705BFF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950976"/>
            <a:ext cx="502920" cy="502920"/>
          </a:xfrm>
          <a:prstGeom prst="rect">
            <a:avLst/>
          </a:prstGeom>
          <a:solidFill>
            <a:srgbClr val="34A4FF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713232"/>
            <a:ext cx="379476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900" b="1">
                <a:solidFill>
                  <a:srgbClr val="F5F7FC"/>
                </a:solidFill>
                <a:latin typeface="Aptos"/>
              </a:rPr>
              <a:t>Runtime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38928" y="713232"/>
            <a:ext cx="11430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3900" b="1">
                <a:solidFill>
                  <a:srgbClr val="34A4FF"/>
                </a:solidFill>
                <a:latin typeface="Aptos"/>
              </a:rPr>
              <a:t>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4752" y="1874519"/>
            <a:ext cx="9601200" cy="59436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800" b="1">
                <a:solidFill>
                  <a:srgbClr val="F5F7FC"/>
                </a:solidFill>
                <a:latin typeface="Aptos"/>
              </a:rPr>
              <a:t>The Runtime Control Plane for Autonomous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578608"/>
            <a:ext cx="7863840" cy="4572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000" b="0">
                <a:solidFill>
                  <a:srgbClr val="A4B1D2"/>
                </a:solidFill>
                <a:latin typeface="Aptos"/>
              </a:rPr>
              <a:t>Connect anything. Govern every 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246120"/>
            <a:ext cx="914400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34A4FF"/>
                </a:solidFill>
                <a:latin typeface="Aptos"/>
              </a:rPr>
              <a:t>Identity  •  Context  •  Risk  •  Policy  •  Enforcement  • 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44752" y="3977639"/>
            <a:ext cx="9326880" cy="107899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4187952"/>
            <a:ext cx="146304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5F7FC"/>
                </a:solidFill>
                <a:latin typeface="Aptos"/>
              </a:rPr>
              <a:t>AI Agent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4334256"/>
            <a:ext cx="731520" cy="0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069080" y="4142232"/>
            <a:ext cx="1645920" cy="38404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400" b="1">
                <a:solidFill>
                  <a:srgbClr val="34A4FF"/>
                </a:solidFill>
                <a:latin typeface="Aptos"/>
              </a:rPr>
              <a:t>RuntimeOS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4334256"/>
            <a:ext cx="777240" cy="0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0" y="4187952"/>
            <a:ext cx="210312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1">
                <a:solidFill>
                  <a:srgbClr val="F5F7FC"/>
                </a:solidFill>
                <a:latin typeface="Aptos"/>
              </a:rPr>
              <a:t>Tools / MCP /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5212080"/>
            <a:ext cx="603504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200" b="0">
                <a:solidFill>
                  <a:srgbClr val="A4B1D2"/>
                </a:solidFill>
                <a:latin typeface="Aptos"/>
              </a:rPr>
              <a:t>Decide before the action reaches the real world.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6080760"/>
            <a:ext cx="896112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Built at EmberGround AI Hackathon 2026  •  Startup Park Bengaluru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01 / MARKET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AI agents can act. Governance hasn't caught 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The agent stack is becoming more connected, autonomous and capable of affecting real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4709160" cy="416052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56032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34A4FF"/>
                </a:solidFill>
                <a:latin typeface="Aptos"/>
              </a:rPr>
              <a:t>TODAY'S AGENT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4160520" cy="5486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587752"/>
            <a:ext cx="164592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587752"/>
            <a:ext cx="24231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Reason • plan • 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3063240"/>
            <a:ext cx="0" cy="164592"/>
          </a:xfrm>
          <a:prstGeom prst="line">
            <a:avLst/>
          </a:prstGeom>
          <a:ln w="16510">
            <a:solidFill>
              <a:srgbClr val="70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" y="3264408"/>
            <a:ext cx="4160520" cy="5486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337560"/>
            <a:ext cx="164592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MCP / APIs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337560"/>
            <a:ext cx="24231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Connect to tools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71800" y="3813048"/>
            <a:ext cx="0" cy="164591"/>
          </a:xfrm>
          <a:prstGeom prst="line">
            <a:avLst/>
          </a:prstGeom>
          <a:ln w="1651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68680" y="4014215"/>
            <a:ext cx="4160520" cy="5486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87368"/>
            <a:ext cx="164592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Enterprise Tools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087368"/>
            <a:ext cx="24231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CRM • DB • Gmail • GitHub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4562855"/>
            <a:ext cx="0" cy="164593"/>
          </a:xfrm>
          <a:prstGeom prst="line">
            <a:avLst/>
          </a:prstGeom>
          <a:ln w="16510">
            <a:solidFill>
              <a:srgbClr val="34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" y="4764024"/>
            <a:ext cx="4160520" cy="5486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837176"/>
            <a:ext cx="164592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Real-world Effects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4837176"/>
            <a:ext cx="24231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Money • data • 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011680"/>
            <a:ext cx="27432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5670"/>
                </a:solidFill>
                <a:latin typeface="Aptos"/>
              </a:rPr>
              <a:t>THE GOVERNANCE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2468880"/>
            <a:ext cx="5486400" cy="43891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0448" y="2523744"/>
            <a:ext cx="182880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79" y="2523744"/>
            <a:ext cx="315468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Who is acting?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3035808"/>
            <a:ext cx="5486400" cy="43891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70448" y="3090672"/>
            <a:ext cx="182880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Action-level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3090672"/>
            <a:ext cx="315468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Is this action allowed now?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3602736"/>
            <a:ext cx="5486400" cy="43891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0448" y="3657600"/>
            <a:ext cx="182880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Cross-tool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3657600"/>
            <a:ext cx="315468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What happens when tools are combined?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4169664"/>
            <a:ext cx="5486400" cy="43891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4224528"/>
            <a:ext cx="182880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Human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4224528"/>
            <a:ext cx="315468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When should a person approve?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4736592"/>
            <a:ext cx="5486400" cy="43891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0448" y="4791455"/>
            <a:ext cx="182880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Auditability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4791455"/>
            <a:ext cx="315468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Can we explain every decision?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5440680"/>
            <a:ext cx="5486400" cy="502920"/>
          </a:xfrm>
          <a:prstGeom prst="roundRect">
            <a:avLst/>
          </a:prstGeom>
          <a:solidFill>
            <a:srgbClr val="211223"/>
          </a:solidFill>
          <a:ln w="12700">
            <a:solidFill>
              <a:srgbClr val="FF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97880" y="5559552"/>
            <a:ext cx="114300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F5670"/>
                </a:solidFill>
                <a:latin typeface="Aptos"/>
              </a:rPr>
              <a:t>THE PROBLEM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5532120"/>
            <a:ext cx="3749039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Tools are connected. Control is fragmented.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02 /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RuntimeOS — governance at the action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A centralized control plane that evaluates and enforces agent actions before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240280" cy="1508760"/>
          </a:xfrm>
          <a:prstGeom prst="roundRect">
            <a:avLst/>
          </a:prstGeom>
          <a:solidFill>
            <a:srgbClr val="111B36"/>
          </a:solidFill>
          <a:ln w="1778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2743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705B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57400"/>
            <a:ext cx="15544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Agent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42032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50" b="0">
                <a:solidFill>
                  <a:srgbClr val="A4B1D2"/>
                </a:solidFill>
                <a:latin typeface="Aptos"/>
              </a:rPr>
              <a:t>The agent requests an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724912"/>
            <a:ext cx="576072" cy="0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29000" y="1965960"/>
            <a:ext cx="2240280" cy="1508760"/>
          </a:xfrm>
          <a:prstGeom prst="roundRect">
            <a:avLst/>
          </a:prstGeom>
          <a:solidFill>
            <a:srgbClr val="111B36"/>
          </a:solidFill>
          <a:ln w="1778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84831"/>
            <a:ext cx="2743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34A4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2057400"/>
            <a:ext cx="15544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RuntimeOS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42032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50" b="0">
                <a:solidFill>
                  <a:srgbClr val="A4B1D2"/>
                </a:solidFill>
                <a:latin typeface="Aptos"/>
              </a:rPr>
              <a:t>Intercept + evaluate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0" y="2724912"/>
            <a:ext cx="576072" cy="0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63640" y="1965960"/>
            <a:ext cx="2240280" cy="1508760"/>
          </a:xfrm>
          <a:prstGeom prst="roundRect">
            <a:avLst/>
          </a:prstGeom>
          <a:solidFill>
            <a:srgbClr val="111B36"/>
          </a:solidFill>
          <a:ln w="1778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84831"/>
            <a:ext cx="2743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FFAE42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057400"/>
            <a:ext cx="15544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42032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50" b="0">
                <a:solidFill>
                  <a:srgbClr val="A4B1D2"/>
                </a:solidFill>
                <a:latin typeface="Aptos"/>
              </a:rPr>
              <a:t>ALLOW / MODIFY / BLOCK / ESCALATE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03920" y="2724912"/>
            <a:ext cx="576072" cy="0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98280" y="1965960"/>
            <a:ext cx="2240280" cy="1508760"/>
          </a:xfrm>
          <a:prstGeom prst="roundRect">
            <a:avLst/>
          </a:prstGeom>
          <a:solidFill>
            <a:srgbClr val="111B36"/>
          </a:solidFill>
          <a:ln w="1778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2084831"/>
            <a:ext cx="2743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2DD589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057400"/>
            <a:ext cx="15544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542032"/>
            <a:ext cx="1874519" cy="56692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50" b="0">
                <a:solidFill>
                  <a:srgbClr val="A4B1D2"/>
                </a:solidFill>
                <a:latin typeface="Aptos"/>
              </a:rPr>
              <a:t>Only controlled actions reach tools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77639"/>
            <a:ext cx="3520440" cy="150876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133087"/>
            <a:ext cx="31546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Centralized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53712"/>
            <a:ext cx="164592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34A4FF"/>
                </a:solidFill>
                <a:latin typeface="Apto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4526280"/>
            <a:ext cx="28803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One policy plane across 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946904"/>
            <a:ext cx="164592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34A4FF"/>
                </a:solidFill>
                <a:latin typeface="Apto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4919472"/>
            <a:ext cx="28803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Consistent enforcement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977639"/>
            <a:ext cx="3520440" cy="150876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4133087"/>
            <a:ext cx="31546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Context-aware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553712"/>
            <a:ext cx="164592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4526280"/>
            <a:ext cx="28803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Action + resource +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946904"/>
            <a:ext cx="164592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27448" y="4919472"/>
            <a:ext cx="28803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Cross-tool risk awareness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2440" y="3977639"/>
            <a:ext cx="3520440" cy="150876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19" y="4133087"/>
            <a:ext cx="31546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500" b="1">
                <a:solidFill>
                  <a:srgbClr val="F5F7FC"/>
                </a:solidFill>
                <a:latin typeface="Aptos"/>
              </a:rPr>
              <a:t>Human + audit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19" y="4553712"/>
            <a:ext cx="164592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2DD589"/>
                </a:solidFill>
                <a:latin typeface="Apto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4526280"/>
            <a:ext cx="28803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Escalation for high 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19" y="4946904"/>
            <a:ext cx="164592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2DD589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76488" y="4919472"/>
            <a:ext cx="28803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Decision reasoning captured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3000" y="5806440"/>
            <a:ext cx="987552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400" b="1">
                <a:solidFill>
                  <a:srgbClr val="F5F7FC"/>
                </a:solidFill>
                <a:latin typeface="Aptos"/>
              </a:rPr>
              <a:t>MCP connects agents to tools. RuntimeOS governs what they are allowed to do.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03 /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RuntimeOS Control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Identity → Context → Risk → Policy → Enforcement →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72768"/>
            <a:ext cx="10835640" cy="71323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09928"/>
            <a:ext cx="237744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AI AGENTS / APPLICATIONS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755648"/>
            <a:ext cx="141732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773936"/>
            <a:ext cx="132588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705BFF"/>
                </a:solidFill>
                <a:latin typeface="Aptos"/>
              </a:rPr>
              <a:t>OpenAI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18888" y="1755648"/>
            <a:ext cx="141732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4607" y="1773936"/>
            <a:ext cx="132588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LangGraph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1656" y="1755648"/>
            <a:ext cx="141732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773936"/>
            <a:ext cx="132588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CrewAI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1755648"/>
            <a:ext cx="141732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0144" y="1773936"/>
            <a:ext cx="132588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Custom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37192" y="1755648"/>
            <a:ext cx="141732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82912" y="1773936"/>
            <a:ext cx="132588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Enterprise Agents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2286000"/>
            <a:ext cx="0" cy="384048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2697480"/>
            <a:ext cx="11201400" cy="2331720"/>
          </a:xfrm>
          <a:prstGeom prst="roundRect">
            <a:avLst/>
          </a:prstGeom>
          <a:solidFill>
            <a:srgbClr val="081226"/>
          </a:solidFill>
          <a:ln w="228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52928"/>
            <a:ext cx="27432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RUNTIMEOS CONTROL PLANE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310128"/>
            <a:ext cx="1938528" cy="13258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429000"/>
            <a:ext cx="256032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34D6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401568"/>
            <a:ext cx="13716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Identity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3840480"/>
            <a:ext cx="164592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69" b="0">
                <a:solidFill>
                  <a:srgbClr val="A4B1D2"/>
                </a:solidFill>
                <a:latin typeface="Aptos"/>
              </a:rPr>
              <a:t>Agent • user • org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88336" y="3968496"/>
            <a:ext cx="182879" cy="0"/>
          </a:xfrm>
          <a:prstGeom prst="line">
            <a:avLst/>
          </a:prstGeom>
          <a:ln w="16510">
            <a:solidFill>
              <a:srgbClr val="34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889503" y="3310128"/>
            <a:ext cx="1938528" cy="13258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3429000"/>
            <a:ext cx="256032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34A4FF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00984" y="3401568"/>
            <a:ext cx="13716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35808" y="3840480"/>
            <a:ext cx="164592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69" b="0">
                <a:solidFill>
                  <a:srgbClr val="A4B1D2"/>
                </a:solidFill>
                <a:latin typeface="Aptos"/>
              </a:rPr>
              <a:t>Action • data • history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28031" y="3968496"/>
            <a:ext cx="182881" cy="0"/>
          </a:xfrm>
          <a:prstGeom prst="line">
            <a:avLst/>
          </a:prstGeom>
          <a:ln w="1651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029200" y="3310128"/>
            <a:ext cx="1938528" cy="13258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8928" y="3429000"/>
            <a:ext cx="256032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FFAE42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401568"/>
            <a:ext cx="13716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Risk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3840480"/>
            <a:ext cx="164592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69" b="0">
                <a:solidFill>
                  <a:srgbClr val="A4B1D2"/>
                </a:solidFill>
                <a:latin typeface="Aptos"/>
              </a:rPr>
              <a:t>Score • sensitivity • impact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67728" y="3968496"/>
            <a:ext cx="182880" cy="0"/>
          </a:xfrm>
          <a:prstGeom prst="line">
            <a:avLst/>
          </a:prstGeom>
          <a:ln w="16510">
            <a:solidFill>
              <a:srgbClr val="FFA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168896" y="3310128"/>
            <a:ext cx="1938528" cy="13258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78624" y="3429000"/>
            <a:ext cx="256032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705BFF"/>
                </a:solidFill>
                <a:latin typeface="Aptos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0375" y="3401568"/>
            <a:ext cx="13716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Policy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840480"/>
            <a:ext cx="164592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69" b="0">
                <a:solidFill>
                  <a:srgbClr val="A4B1D2"/>
                </a:solidFill>
                <a:latin typeface="Aptos"/>
              </a:rPr>
              <a:t>Rules • permissions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07424" y="3968496"/>
            <a:ext cx="182880" cy="0"/>
          </a:xfrm>
          <a:prstGeom prst="line">
            <a:avLst/>
          </a:prstGeom>
          <a:ln w="16510">
            <a:solidFill>
              <a:srgbClr val="70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308592" y="3310128"/>
            <a:ext cx="1938528" cy="132588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FF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19" y="3429000"/>
            <a:ext cx="256032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FF5670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3401568"/>
            <a:ext cx="13716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Enforcement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54896" y="3840480"/>
            <a:ext cx="1645920" cy="4114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69" b="0">
                <a:solidFill>
                  <a:srgbClr val="A4B1D2"/>
                </a:solidFill>
                <a:latin typeface="Aptos"/>
              </a:rPr>
              <a:t>Allow • Modify • Block • Escalate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4754880"/>
            <a:ext cx="10378440" cy="384048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828032"/>
            <a:ext cx="99669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50" b="1">
                <a:solidFill>
                  <a:srgbClr val="A4B1D2"/>
                </a:solidFill>
                <a:latin typeface="Aptos"/>
              </a:rPr>
              <a:t>AUDIT &amp; EVENTS  •  decision logs  •  reasoning  •  real-time monitoring  •  compliance evidence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5440680"/>
            <a:ext cx="6400800" cy="658368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5605272"/>
            <a:ext cx="594360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100" b="1">
                <a:solidFill>
                  <a:srgbClr val="F5F7FC"/>
                </a:solidFill>
                <a:latin typeface="Aptos"/>
              </a:rPr>
              <a:t>MCP / APIs / DATABASES / ENTERPRISE TOOLS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60920" y="5440680"/>
            <a:ext cx="4160520" cy="658368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800" y="5605272"/>
            <a:ext cx="379476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50" b="1">
                <a:solidFill>
                  <a:srgbClr val="F5F7FC"/>
                </a:solidFill>
                <a:latin typeface="Aptos"/>
              </a:rPr>
              <a:t>n8n / HUMAN APPROVAL / ALERTS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04 / DECISION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Risk assesses. Policy decides. Enforcement 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The decision layer converts agent intent into an enforceable outcome.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03520" cy="420624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182880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FFAE42"/>
                </a:solidFill>
                <a:latin typeface="Aptos"/>
              </a:rPr>
              <a:t>RISK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42976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F5F7FC"/>
                </a:solidFill>
                <a:latin typeface="Aptos"/>
              </a:rPr>
              <a:t>“How dangerous is this action?”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798064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Agent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209544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191256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Action +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02736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584448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Resource /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995928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977640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Data 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370832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Transaction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782312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FAE42"/>
                </a:solidFill>
                <a:latin typeface="Apto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764024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Historical / cross-tool 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30368"/>
            <a:ext cx="4663440" cy="438912"/>
          </a:xfrm>
          <a:prstGeom prst="roundRect">
            <a:avLst/>
          </a:prstGeom>
          <a:solidFill>
            <a:srgbClr val="2B1C12"/>
          </a:solidFill>
          <a:ln w="1270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321808"/>
            <a:ext cx="429768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000" b="1">
                <a:solidFill>
                  <a:srgbClr val="F5F7FC"/>
                </a:solidFill>
                <a:latin typeface="Aptos"/>
              </a:rPr>
              <a:t>OUTPUT  →  Risk score + reasons + risk level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737360"/>
            <a:ext cx="5303520" cy="420624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965960"/>
            <a:ext cx="182880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705BFF"/>
                </a:solidFill>
                <a:latin typeface="Aptos"/>
              </a:rPr>
              <a:t>POLICY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359152"/>
            <a:ext cx="42976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F5F7FC"/>
                </a:solidFill>
                <a:latin typeface="Aptos"/>
              </a:rPr>
              <a:t>“What should we do about it?”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816352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798064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Organization policies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5392" y="3209544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191256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Resource permissions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5392" y="3602736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584448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Data-type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995928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3977640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Risk thresholds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4389120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370832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Region / compliance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4782312"/>
            <a:ext cx="13716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705BFF"/>
                </a:solidFill>
                <a:latin typeface="Aptos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48272" y="4764024"/>
            <a:ext cx="425196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Custom guardrails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37960" y="5230368"/>
            <a:ext cx="10058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248655"/>
            <a:ext cx="9144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2DD589"/>
                </a:solidFill>
                <a:latin typeface="Aptos"/>
              </a:rPr>
              <a:t>ALLOW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08392" y="5230368"/>
            <a:ext cx="10058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54112" y="5248655"/>
            <a:ext cx="9144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MODIFY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78824" y="5230368"/>
            <a:ext cx="10058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FF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24544" y="5248655"/>
            <a:ext cx="9144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FF5670"/>
                </a:solidFill>
                <a:latin typeface="Aptos"/>
              </a:rPr>
              <a:t>BLOCK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049256" y="5230368"/>
            <a:ext cx="10058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94976" y="5248655"/>
            <a:ext cx="9144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FFAE42"/>
                </a:solidFill>
                <a:latin typeface="Aptos"/>
              </a:rPr>
              <a:t>ESCALATE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6080760"/>
            <a:ext cx="10561320" cy="329184"/>
          </a:xfrm>
          <a:prstGeom prst="roundRect">
            <a:avLst/>
          </a:prstGeom>
          <a:solidFill>
            <a:srgbClr val="0B172C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6135624"/>
            <a:ext cx="1014984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19" b="1">
                <a:solidFill>
                  <a:srgbClr val="F5F7FC"/>
                </a:solidFill>
                <a:latin typeface="Aptos"/>
              </a:rPr>
              <a:t>Example: ₹50,000 transfer → high risk → policy threshold matched → BLOCK / ESCALATE → n8n → human workflow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05 / INTEGRATIONS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RuntimeOS connects governance to operations and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n8n handles response workflows; Dodo Payments handles subscription and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486400" cy="416052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37744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34D6FF"/>
                </a:solidFill>
                <a:latin typeface="Aptos"/>
              </a:rPr>
              <a:t>n8n  / 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466344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F5F7FC"/>
                </a:solidFill>
                <a:latin typeface="Aptos"/>
              </a:rPr>
              <a:t>RuntimeOS decides. n8n orchestrates the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971800"/>
            <a:ext cx="4800600" cy="594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FF5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63240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Decision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063240"/>
            <a:ext cx="265176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BLOCK / ESCALATE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0128" y="3566160"/>
            <a:ext cx="0" cy="201168"/>
          </a:xfrm>
          <a:prstGeom prst="line">
            <a:avLst/>
          </a:prstGeom>
          <a:ln w="16510">
            <a:solidFill>
              <a:srgbClr val="FF5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794760"/>
            <a:ext cx="4800600" cy="594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86200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n8n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886200"/>
            <a:ext cx="265176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Webhook → routing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10128" y="4389120"/>
            <a:ext cx="0" cy="201168"/>
          </a:xfrm>
          <a:prstGeom prst="line">
            <a:avLst/>
          </a:prstGeom>
          <a:ln w="16510">
            <a:solidFill>
              <a:srgbClr val="34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14400" y="4617720"/>
            <a:ext cx="4800600" cy="59436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709159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F5F7FC"/>
                </a:solidFill>
                <a:latin typeface="Aptos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709159"/>
            <a:ext cx="265176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Slack / Email / Review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737360"/>
            <a:ext cx="5257800" cy="416052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965960"/>
            <a:ext cx="402336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700" b="1">
                <a:solidFill>
                  <a:srgbClr val="705BFF"/>
                </a:solidFill>
                <a:latin typeface="Aptos"/>
              </a:rPr>
              <a:t>DODO PAYMENTS  /  MONETIZATION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77440"/>
            <a:ext cx="44805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F5F7FC"/>
                </a:solidFill>
                <a:latin typeface="Aptos"/>
              </a:rPr>
              <a:t>Subscription → webhook → access provisioning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2907792"/>
            <a:ext cx="45720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971800"/>
            <a:ext cx="137160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Pricing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971800"/>
            <a:ext cx="25603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Monthly / Annual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69680" y="3364992"/>
            <a:ext cx="0" cy="146304"/>
          </a:xfrm>
          <a:prstGeom prst="line">
            <a:avLst/>
          </a:prstGeom>
          <a:ln w="13970">
            <a:solidFill>
              <a:srgbClr val="70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629400" y="3547872"/>
            <a:ext cx="45720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3611879"/>
            <a:ext cx="137160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Checkout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11879"/>
            <a:ext cx="25603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Hosted payment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69680" y="4005072"/>
            <a:ext cx="0" cy="146304"/>
          </a:xfrm>
          <a:prstGeom prst="line">
            <a:avLst/>
          </a:prstGeom>
          <a:ln w="1397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629400" y="4187952"/>
            <a:ext cx="45720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4251960"/>
            <a:ext cx="137160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Webhook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251960"/>
            <a:ext cx="25603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Payment event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69680" y="4645152"/>
            <a:ext cx="0" cy="146304"/>
          </a:xfrm>
          <a:prstGeom prst="line">
            <a:avLst/>
          </a:prstGeom>
          <a:ln w="13970">
            <a:solidFill>
              <a:srgbClr val="34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629400" y="4828031"/>
            <a:ext cx="45720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4892040"/>
            <a:ext cx="137160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RuntimeOS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892040"/>
            <a:ext cx="25603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0">
                <a:solidFill>
                  <a:srgbClr val="A4B1D2"/>
                </a:solidFill>
                <a:latin typeface="Aptos"/>
              </a:rPr>
              <a:t>Activate subscription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6172200"/>
            <a:ext cx="274320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00" b="1">
                <a:solidFill>
                  <a:srgbClr val="34D6FF"/>
                </a:solidFill>
                <a:latin typeface="Aptos"/>
              </a:rPr>
              <a:t>Operational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6172200"/>
            <a:ext cx="292608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00" b="1">
                <a:solidFill>
                  <a:srgbClr val="705BFF"/>
                </a:solidFill>
                <a:latin typeface="Aptos"/>
              </a:rPr>
              <a:t>Commercial infrastructure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06 / DEVELOPER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Deploy once. Integrate everywhere.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RuntimeOS is designed as an API + SDK layer that can sit beside existing agent stacks.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6492240" cy="438912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256032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34A4FF"/>
                </a:solidFill>
                <a:latin typeface="Aptos"/>
              </a:rPr>
              <a:t>INTEGRATION SURFACE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395728"/>
            <a:ext cx="12344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14016"/>
            <a:ext cx="11430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705BFF"/>
                </a:solidFill>
                <a:latin typeface="Aptos"/>
              </a:rPr>
              <a:t>OpenAI Agents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2395728"/>
            <a:ext cx="12344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414016"/>
            <a:ext cx="11430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LangGraph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395728"/>
            <a:ext cx="12344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14016"/>
            <a:ext cx="11430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CrewAI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395728"/>
            <a:ext cx="1234440" cy="310896"/>
          </a:xfrm>
          <a:prstGeom prst="roundRect">
            <a:avLst/>
          </a:prstGeom>
          <a:solidFill>
            <a:srgbClr val="0B1D37"/>
          </a:solidFill>
          <a:ln w="1016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414016"/>
            <a:ext cx="1143000" cy="24688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50" b="1">
                <a:solidFill>
                  <a:srgbClr val="34A4FF"/>
                </a:solidFill>
                <a:latin typeface="Aptos"/>
              </a:rPr>
              <a:t>Custom 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74720" y="2743200"/>
            <a:ext cx="0" cy="320040"/>
          </a:xfrm>
          <a:prstGeom prst="line">
            <a:avLst/>
          </a:prstGeom>
          <a:ln w="2540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5840" y="3063240"/>
            <a:ext cx="5669280" cy="77724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64408"/>
            <a:ext cx="14173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F5F7FC"/>
                </a:solidFill>
                <a:latin typeface="Aptos"/>
              </a:rPr>
              <a:t>Python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264408"/>
            <a:ext cx="16459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F5F7FC"/>
                </a:solidFill>
                <a:latin typeface="Aptos"/>
              </a:rPr>
              <a:t>TypeScript SDK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64408"/>
            <a:ext cx="1874519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A4B1D2"/>
                </a:solidFill>
                <a:latin typeface="Aptos"/>
              </a:rPr>
              <a:t>REST API  •  WebSocket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74720" y="3840480"/>
            <a:ext cx="0" cy="320040"/>
          </a:xfrm>
          <a:prstGeom prst="line">
            <a:avLst/>
          </a:prstGeom>
          <a:ln w="25400">
            <a:solidFill>
              <a:srgbClr val="34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" y="4160520"/>
            <a:ext cx="5669280" cy="777240"/>
          </a:xfrm>
          <a:prstGeom prst="roundRect">
            <a:avLst/>
          </a:prstGeom>
          <a:solidFill>
            <a:srgbClr val="0A1B33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40280" y="4370832"/>
            <a:ext cx="32004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500" b="1">
                <a:solidFill>
                  <a:srgbClr val="2DD589"/>
                </a:solidFill>
                <a:latin typeface="Aptos"/>
              </a:rPr>
              <a:t>RuntimeOS Governance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74720" y="4937760"/>
            <a:ext cx="0" cy="292608"/>
          </a:xfrm>
          <a:prstGeom prst="line">
            <a:avLst/>
          </a:prstGeom>
          <a:ln w="25400">
            <a:solidFill>
              <a:srgbClr val="2DD5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5285232"/>
            <a:ext cx="544068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1100" b="1">
                <a:solidFill>
                  <a:srgbClr val="F5F7FC"/>
                </a:solidFill>
                <a:latin typeface="Aptos"/>
              </a:rPr>
              <a:t>MCP  •  APIs  •  DBs  •  Enterprise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1691640"/>
            <a:ext cx="4206240" cy="438912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1920240"/>
            <a:ext cx="182880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200" b="1">
                <a:solidFill>
                  <a:srgbClr val="2DD589"/>
                </a:solidFill>
                <a:latin typeface="Aptos"/>
              </a:rPr>
              <a:t>DEPLOYMENT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2487168"/>
            <a:ext cx="36576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2551176"/>
            <a:ext cx="11887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GitHub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551176"/>
            <a:ext cx="201168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Source + CI flow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145536"/>
            <a:ext cx="36576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3209544"/>
            <a:ext cx="11887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Render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209544"/>
            <a:ext cx="201168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FastAPI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5240" y="3803904"/>
            <a:ext cx="36576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18120" y="3867912"/>
            <a:ext cx="11887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Netlify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867912"/>
            <a:ext cx="201168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React frontend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35240" y="4462272"/>
            <a:ext cx="3657600" cy="457200"/>
          </a:xfrm>
          <a:prstGeom prst="roundRect">
            <a:avLst/>
          </a:prstGeom>
          <a:solidFill>
            <a:srgbClr val="111B36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18120" y="4526280"/>
            <a:ext cx="118872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Cloud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526280"/>
            <a:ext cx="201168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Policies + audit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35240" y="5230368"/>
            <a:ext cx="3657600" cy="475488"/>
          </a:xfrm>
          <a:prstGeom prst="roundRect">
            <a:avLst/>
          </a:prstGeom>
          <a:solidFill>
            <a:srgbClr val="0C261F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5340096"/>
            <a:ext cx="3291840" cy="201168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919" b="1">
                <a:solidFill>
                  <a:srgbClr val="2DD589"/>
                </a:solidFill>
                <a:latin typeface="Aptos"/>
              </a:rPr>
              <a:t>Cloud-hosted • API-first • SDK-ready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07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029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2700" b="1">
                <a:solidFill>
                  <a:srgbClr val="F5F7FC"/>
                </a:solidFill>
                <a:latin typeface="Aptos"/>
              </a:rPr>
              <a:t>Looking for pilot programs and design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188720"/>
            <a:ext cx="10972800" cy="34747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0">
                <a:solidFill>
                  <a:srgbClr val="A4B1D2"/>
                </a:solidFill>
                <a:latin typeface="Aptos"/>
              </a:rPr>
              <a:t>Move from controlled demo workflows to real agent deployments and measurable governance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1965960" cy="205740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57400"/>
            <a:ext cx="3657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A4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68880"/>
            <a:ext cx="164592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Select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71800"/>
            <a:ext cx="16002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Choose an agent + real business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2880360"/>
            <a:ext cx="274320" cy="0"/>
          </a:xfrm>
          <a:prstGeom prst="line">
            <a:avLst/>
          </a:prstGeom>
          <a:ln w="16510">
            <a:solidFill>
              <a:srgbClr val="34A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62072" y="1874519"/>
            <a:ext cx="1965960" cy="205740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70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26664" y="2057400"/>
            <a:ext cx="3657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705B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2468880"/>
            <a:ext cx="164592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2971800"/>
            <a:ext cx="16002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SDK / API / MCP boundary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28031" y="2880360"/>
            <a:ext cx="274321" cy="0"/>
          </a:xfrm>
          <a:prstGeom prst="line">
            <a:avLst/>
          </a:prstGeom>
          <a:ln w="16510">
            <a:solidFill>
              <a:srgbClr val="70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29784" y="1874519"/>
            <a:ext cx="1965960" cy="205740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FFA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2057400"/>
            <a:ext cx="3657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FFAE42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468880"/>
            <a:ext cx="164592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Govern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2971800"/>
            <a:ext cx="16002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Configure risk + policy controls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95744" y="2880360"/>
            <a:ext cx="274320" cy="0"/>
          </a:xfrm>
          <a:prstGeom prst="line">
            <a:avLst/>
          </a:prstGeom>
          <a:ln w="16510">
            <a:solidFill>
              <a:srgbClr val="FFAE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7496" y="1874519"/>
            <a:ext cx="1965960" cy="205740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34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2088" y="2057400"/>
            <a:ext cx="3657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34D6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468880"/>
            <a:ext cx="164592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2971800"/>
            <a:ext cx="16002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Audit, incidents, false positives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63456" y="2880360"/>
            <a:ext cx="274320" cy="0"/>
          </a:xfrm>
          <a:prstGeom prst="line">
            <a:avLst/>
          </a:prstGeom>
          <a:ln w="16510">
            <a:solidFill>
              <a:srgbClr val="34D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65208" y="1874519"/>
            <a:ext cx="1965960" cy="2057400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DD5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9800" y="2057400"/>
            <a:ext cx="365760" cy="27432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00" b="1">
                <a:solidFill>
                  <a:srgbClr val="2DD589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29800" y="2468880"/>
            <a:ext cx="1645920" cy="32004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300" b="1">
                <a:solidFill>
                  <a:srgbClr val="F5F7FC"/>
                </a:solidFill>
                <a:latin typeface="Aptos"/>
              </a:rPr>
              <a:t>Improve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971800"/>
            <a:ext cx="1600200" cy="6400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50" b="0">
                <a:solidFill>
                  <a:srgbClr val="A4B1D2"/>
                </a:solidFill>
                <a:latin typeface="Aptos"/>
              </a:rPr>
              <a:t>Feed pilot learnings into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1645920" cy="25603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100" b="1">
                <a:solidFill>
                  <a:srgbClr val="34A4FF"/>
                </a:solidFill>
                <a:latin typeface="Aptos"/>
              </a:rPr>
              <a:t>PILOT AREAS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709160"/>
            <a:ext cx="5166360" cy="53035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4782312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Financial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782312"/>
            <a:ext cx="306324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19" b="0">
                <a:solidFill>
                  <a:srgbClr val="A4B1D2"/>
                </a:solidFill>
                <a:latin typeface="Aptos"/>
              </a:rPr>
              <a:t>Transaction + customer-data agents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709160"/>
            <a:ext cx="5166360" cy="53035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782312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782312"/>
            <a:ext cx="306324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19" b="0">
                <a:solidFill>
                  <a:srgbClr val="A4B1D2"/>
                </a:solidFill>
                <a:latin typeface="Aptos"/>
              </a:rPr>
              <a:t>CRM + email + internal knowledge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22392"/>
            <a:ext cx="5166360" cy="53035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1" y="5495544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Developer Platforms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5495544"/>
            <a:ext cx="306324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19" b="0">
                <a:solidFill>
                  <a:srgbClr val="A4B1D2"/>
                </a:solidFill>
                <a:latin typeface="Aptos"/>
              </a:rPr>
              <a:t>Coding + GitHub + DevOps agents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5422392"/>
            <a:ext cx="5166360" cy="530352"/>
          </a:xfrm>
          <a:prstGeom prst="roundRect">
            <a:avLst/>
          </a:prstGeom>
          <a:solidFill>
            <a:srgbClr val="0D142B"/>
          </a:solidFill>
          <a:ln w="12700">
            <a:solidFill>
              <a:srgbClr val="2332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5495544"/>
            <a:ext cx="164592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1050" b="1">
                <a:solidFill>
                  <a:srgbClr val="F5F7FC"/>
                </a:solidFill>
                <a:latin typeface="Aptos"/>
              </a:rPr>
              <a:t>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495544"/>
            <a:ext cx="3063240" cy="22860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919" b="0">
                <a:solidFill>
                  <a:srgbClr val="A4B1D2"/>
                </a:solidFill>
                <a:latin typeface="Aptos"/>
              </a:rPr>
              <a:t>Multi-agent + MCP workflows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6144768"/>
            <a:ext cx="10881360" cy="274320"/>
          </a:xfrm>
          <a:prstGeom prst="roundRect">
            <a:avLst/>
          </a:prstGeom>
          <a:solidFill>
            <a:srgbClr val="0D213E"/>
          </a:solidFill>
          <a:ln w="12700">
            <a:solidFill>
              <a:srgbClr val="34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6190488"/>
            <a:ext cx="10515600" cy="164592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ctr"/>
            <a:r>
              <a:rPr sz="869" b="1">
                <a:solidFill>
                  <a:srgbClr val="F5F7FC"/>
                </a:solidFill>
                <a:latin typeface="Aptos"/>
              </a:rPr>
              <a:t>BUILD WITH US  •  PILOT WITH US  •  SHAPE THE GOVERNANCE LAYER FOR THE AGENTIC ERA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6528816"/>
            <a:ext cx="6400800" cy="182880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l"/>
            <a:r>
              <a:rPr sz="800" b="0">
                <a:solidFill>
                  <a:srgbClr val="A4B1D2"/>
                </a:solidFill>
                <a:latin typeface="Aptos"/>
              </a:rPr>
              <a:t>RuntimeOS  •  EmberGround AI Hackathon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6501384"/>
            <a:ext cx="457200" cy="219456"/>
          </a:xfrm>
          <a:prstGeom prst="rect">
            <a:avLst/>
          </a:prstGeom>
          <a:noFill/>
        </p:spPr>
        <p:txBody>
          <a:bodyPr wrap="none" lIns="27432" rIns="27432" anchor="ctr">
            <a:spAutoFit/>
          </a:bodyPr>
          <a:lstStyle/>
          <a:p>
            <a:pPr algn="r"/>
            <a:r>
              <a:rPr sz="900" b="1">
                <a:solidFill>
                  <a:srgbClr val="A4B1D2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